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al Bold" panose="020B0704020202020204" pitchFamily="34" charset="0"/>
      <p:regular r:id="rId10"/>
      <p:bold r:id="rId11"/>
    </p:embeddedFont>
    <p:embeddedFont>
      <p:font typeface="Arial Italics" panose="020B0604020202020204" charset="0"/>
      <p:regular r:id="rId12"/>
    </p:embeddedFont>
    <p:embeddedFont>
      <p:font typeface="Arimo Bold" panose="020B0604020202020204" charset="0"/>
      <p:regular r:id="rId13"/>
    </p:embeddedFont>
    <p:embeddedFont>
      <p:font typeface="Barlow SemiCondensed Bold" panose="020B0604020202020204" charset="0"/>
      <p:regular r:id="rId14"/>
    </p:embeddedFont>
    <p:embeddedFont>
      <p:font typeface="Barlow SemiCondensed Semi-Bold" panose="020B0604020202020204" charset="0"/>
      <p:regular r:id="rId15"/>
    </p:embeddedFont>
    <p:embeddedFont>
      <p:font typeface="Calibri (MS)" panose="020B0604020202020204" charset="0"/>
      <p:regular r:id="rId16"/>
    </p:embeddedFont>
    <p:embeddedFont>
      <p:font typeface="Calibri (MS) Italics" panose="020B0604020202020204" charset="0"/>
      <p:regular r:id="rId17"/>
    </p:embeddedFont>
    <p:embeddedFont>
      <p:font typeface="Garamond Bold" panose="02020804030307010803" pitchFamily="18" charset="0"/>
      <p:regular r:id="rId18"/>
      <p:bold r:id="rId19"/>
    </p:embeddedFont>
    <p:embeddedFont>
      <p:font typeface="Times New Roman Bold" panose="02020803070505020304" pitchFamily="18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9" Type="http://schemas.openxmlformats.org/officeDocument/2006/relationships/image" Target="../media/image39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42" Type="http://schemas.openxmlformats.org/officeDocument/2006/relationships/image" Target="../media/image42.png"/><Relationship Id="rId47" Type="http://schemas.openxmlformats.org/officeDocument/2006/relationships/image" Target="../media/image47.png"/><Relationship Id="rId50" Type="http://schemas.openxmlformats.org/officeDocument/2006/relationships/image" Target="../media/image5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9" Type="http://schemas.openxmlformats.org/officeDocument/2006/relationships/image" Target="../media/image29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40" Type="http://schemas.openxmlformats.org/officeDocument/2006/relationships/image" Target="../media/image40.png"/><Relationship Id="rId45" Type="http://schemas.openxmlformats.org/officeDocument/2006/relationships/image" Target="../media/image45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49" Type="http://schemas.openxmlformats.org/officeDocument/2006/relationships/image" Target="../media/image49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4" Type="http://schemas.openxmlformats.org/officeDocument/2006/relationships/image" Target="../media/image44.png"/><Relationship Id="rId52" Type="http://schemas.openxmlformats.org/officeDocument/2006/relationships/image" Target="../media/image52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43" Type="http://schemas.openxmlformats.org/officeDocument/2006/relationships/image" Target="../media/image43.png"/><Relationship Id="rId48" Type="http://schemas.openxmlformats.org/officeDocument/2006/relationships/image" Target="../media/image48.png"/><Relationship Id="rId8" Type="http://schemas.openxmlformats.org/officeDocument/2006/relationships/image" Target="../media/image8.png"/><Relationship Id="rId51" Type="http://schemas.openxmlformats.org/officeDocument/2006/relationships/image" Target="../media/image51.png"/><Relationship Id="rId3" Type="http://schemas.openxmlformats.org/officeDocument/2006/relationships/image" Target="../media/image3.jpe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png"/><Relationship Id="rId46" Type="http://schemas.openxmlformats.org/officeDocument/2006/relationships/image" Target="../media/image46.png"/><Relationship Id="rId20" Type="http://schemas.openxmlformats.org/officeDocument/2006/relationships/image" Target="../media/image20.png"/><Relationship Id="rId41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482733" y="2657475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15573" y="630650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5052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6929" y="2565759"/>
            <a:ext cx="12985804" cy="6476000"/>
            <a:chOff x="0" y="0"/>
            <a:chExt cx="17314405" cy="863466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314410" cy="8634672"/>
            </a:xfrm>
            <a:custGeom>
              <a:avLst/>
              <a:gdLst/>
              <a:ahLst/>
              <a:cxnLst/>
              <a:rect l="l" t="t" r="r" b="b"/>
              <a:pathLst>
                <a:path w="17314410" h="8634672">
                  <a:moveTo>
                    <a:pt x="0" y="0"/>
                  </a:moveTo>
                  <a:lnTo>
                    <a:pt x="17314410" y="0"/>
                  </a:lnTo>
                  <a:lnTo>
                    <a:pt x="17314410" y="8634672"/>
                  </a:lnTo>
                  <a:lnTo>
                    <a:pt x="0" y="863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984" r="-13984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228600"/>
              <a:ext cx="17314405" cy="8863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  <a:p>
              <a:pPr marL="651510" lvl="1" indent="-325755" algn="just">
                <a:lnSpc>
                  <a:spcPts val="648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Problem Statement ID –</a:t>
              </a:r>
              <a:r>
                <a:rPr lang="en-US" sz="36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SIH26155</a:t>
              </a:r>
            </a:p>
            <a:p>
              <a:pPr marL="651510" lvl="1" indent="-325755" algn="just">
                <a:lnSpc>
                  <a:spcPts val="648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Problem Statement Title – </a:t>
              </a:r>
              <a:r>
                <a:rPr lang="en-US" sz="36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AI-Driven Multi-Vendor Network Security Compliance Auditor</a:t>
              </a:r>
            </a:p>
            <a:p>
              <a:pPr marL="651510" lvl="1" indent="-325755" algn="just">
                <a:lnSpc>
                  <a:spcPts val="648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Theme – </a:t>
              </a:r>
              <a:r>
                <a:rPr lang="en-US" sz="36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Blockchain &amp; Cybersecurity</a:t>
              </a:r>
            </a:p>
            <a:p>
              <a:pPr marL="651510" lvl="1" indent="-325755" algn="just">
                <a:lnSpc>
                  <a:spcPts val="648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 Category – </a:t>
              </a:r>
              <a:r>
                <a:rPr lang="en-US" sz="36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Software</a:t>
              </a:r>
            </a:p>
            <a:p>
              <a:pPr marL="651510" lvl="1" indent="-325755" algn="just">
                <a:lnSpc>
                  <a:spcPts val="648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Team ID –</a:t>
              </a:r>
            </a:p>
            <a:p>
              <a:pPr marL="651510" lvl="1" indent="-325755" algn="just">
                <a:lnSpc>
                  <a:spcPts val="648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Team Name (Registered on portal) – </a:t>
              </a:r>
              <a:r>
                <a:rPr lang="en-US" sz="36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TECHNOOVA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74491" y="59931"/>
            <a:ext cx="16459200" cy="877167"/>
            <a:chOff x="0" y="0"/>
            <a:chExt cx="21945600" cy="11695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169550"/>
            </a:xfrm>
            <a:custGeom>
              <a:avLst/>
              <a:gdLst/>
              <a:ahLst/>
              <a:cxnLst/>
              <a:rect l="l" t="t" r="r" b="b"/>
              <a:pathLst>
                <a:path w="21945600" h="1169550">
                  <a:moveTo>
                    <a:pt x="0" y="0"/>
                  </a:moveTo>
                  <a:lnTo>
                    <a:pt x="21945600" y="0"/>
                  </a:lnTo>
                  <a:lnTo>
                    <a:pt x="21945600" y="1169550"/>
                  </a:lnTo>
                  <a:lnTo>
                    <a:pt x="0" y="11695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5619" b="-31562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11981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0"/>
                </a:lnSpc>
              </a:pPr>
              <a:r>
                <a:rPr lang="en-US" sz="5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80686" y="1182491"/>
            <a:ext cx="17830619" cy="9585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NEXAUDIT AI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AI-Assisted Multi-Vendor Network Security Compliance Auditor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AI-assisted </a:t>
            </a: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configuration normalization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Converts vendor syntax → </a:t>
            </a: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common security representation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Maps configurations → </a:t>
            </a: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security controls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Evidence-linked compliance findings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Confidence-based AI interpretation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Human-verified learning repository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How It Addresses the Problem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Removes the </a:t>
            </a: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vendor-syntax barrier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Creates </a:t>
            </a: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one common security language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Separates AI interpretation from compliance validation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Makes findings </a:t>
            </a: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traceable and explainable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Reuses verified mappings in future audits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7626222" y="9737065"/>
            <a:ext cx="639909" cy="547688"/>
            <a:chOff x="0" y="0"/>
            <a:chExt cx="853211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53206" cy="730250"/>
            </a:xfrm>
            <a:custGeom>
              <a:avLst/>
              <a:gdLst/>
              <a:ahLst/>
              <a:cxnLst/>
              <a:rect l="l" t="t" r="r" b="b"/>
              <a:pathLst>
                <a:path w="853206" h="730250">
                  <a:moveTo>
                    <a:pt x="0" y="0"/>
                  </a:moveTo>
                  <a:lnTo>
                    <a:pt x="853206" y="0"/>
                  </a:lnTo>
                  <a:lnTo>
                    <a:pt x="853206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13" r="-59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85321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574289" y="2248"/>
            <a:ext cx="2691832" cy="1271035"/>
            <a:chOff x="0" y="0"/>
            <a:chExt cx="3589109" cy="16947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89147" cy="1694688"/>
            </a:xfrm>
            <a:custGeom>
              <a:avLst/>
              <a:gdLst/>
              <a:ahLst/>
              <a:cxnLst/>
              <a:rect l="l" t="t" r="r" b="b"/>
              <a:pathLst>
                <a:path w="3589147" h="1694688">
                  <a:moveTo>
                    <a:pt x="0" y="0"/>
                  </a:moveTo>
                  <a:lnTo>
                    <a:pt x="3589147" y="0"/>
                  </a:lnTo>
                  <a:lnTo>
                    <a:pt x="3589147" y="1694688"/>
                  </a:lnTo>
                  <a:lnTo>
                    <a:pt x="0" y="1694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-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65931" y="153143"/>
            <a:ext cx="2285829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8EB4E3"/>
                </a:solidFill>
                <a:latin typeface="Arial Bold"/>
                <a:ea typeface="Arial Bold"/>
                <a:cs typeface="Arial Bold"/>
                <a:sym typeface="Arial Bold"/>
              </a:rPr>
              <a:t>TECHNOOVA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55572" y="2653484"/>
            <a:ext cx="8968492" cy="335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Innovation &amp; Uniqueness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Security Representation (CSR)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+ rule-engine hybrid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Human-in-the-loop learning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Confidence-aware AI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Vendor-agnostic compliance layer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Evidence-first auditing</a:t>
            </a:r>
          </a:p>
        </p:txBody>
      </p:sp>
      <p:sp>
        <p:nvSpPr>
          <p:cNvPr id="15" name="AutoShape 15"/>
          <p:cNvSpPr/>
          <p:nvPr/>
        </p:nvSpPr>
        <p:spPr>
          <a:xfrm rot="5380560">
            <a:off x="7354976" y="6109697"/>
            <a:ext cx="6734204" cy="0"/>
          </a:xfrm>
          <a:prstGeom prst="line">
            <a:avLst/>
          </a:prstGeom>
          <a:ln w="19050" cap="rnd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06185" y="9611316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8EB4E3"/>
                </a:solidFill>
                <a:latin typeface="Arial"/>
                <a:ea typeface="Arial"/>
                <a:cs typeface="Arial"/>
                <a:sym typeface="Arial"/>
              </a:rPr>
              <a:t>Different Configuration Languages → One Common Security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999242" y="3967163"/>
            <a:ext cx="4027881" cy="267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4324" lvl="1" indent="-202162" algn="l">
              <a:lnSpc>
                <a:spcPts val="2680"/>
              </a:lnSpc>
              <a:buFont typeface="Arial"/>
              <a:buChar char="•"/>
            </a:pPr>
            <a:r>
              <a:rPr lang="en-US" sz="22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</a:p>
          <a:p>
            <a:pPr marL="404324" lvl="1" indent="-202162" algn="l">
              <a:lnSpc>
                <a:spcPts val="2680"/>
              </a:lnSpc>
              <a:buFont typeface="Arial"/>
              <a:buChar char="•"/>
            </a:pPr>
            <a:r>
              <a:rPr lang="en-US" sz="22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65931" y="153143"/>
            <a:ext cx="2285829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8EB4E3"/>
                </a:solidFill>
                <a:latin typeface="Arial Bold"/>
                <a:ea typeface="Arial Bold"/>
                <a:cs typeface="Arial Bold"/>
                <a:sym typeface="Arial Bold"/>
              </a:rPr>
              <a:t>TECHNOOVA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626222" y="9737065"/>
            <a:ext cx="639909" cy="547688"/>
            <a:chOff x="0" y="0"/>
            <a:chExt cx="85321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3206" cy="730250"/>
            </a:xfrm>
            <a:custGeom>
              <a:avLst/>
              <a:gdLst/>
              <a:ahLst/>
              <a:cxnLst/>
              <a:rect l="l" t="t" r="r" b="b"/>
              <a:pathLst>
                <a:path w="853206" h="730250">
                  <a:moveTo>
                    <a:pt x="0" y="0"/>
                  </a:moveTo>
                  <a:lnTo>
                    <a:pt x="853206" y="0"/>
                  </a:lnTo>
                  <a:lnTo>
                    <a:pt x="853206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13" r="-5981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85321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288029" y="8532639"/>
            <a:ext cx="13984351" cy="593879"/>
          </a:xfrm>
          <a:custGeom>
            <a:avLst/>
            <a:gdLst/>
            <a:ahLst/>
            <a:cxnLst/>
            <a:rect l="l" t="t" r="r" b="b"/>
            <a:pathLst>
              <a:path w="13984351" h="593879">
                <a:moveTo>
                  <a:pt x="0" y="0"/>
                </a:moveTo>
                <a:lnTo>
                  <a:pt x="13984351" y="0"/>
                </a:lnTo>
                <a:lnTo>
                  <a:pt x="13984351" y="593879"/>
                </a:lnTo>
                <a:lnTo>
                  <a:pt x="0" y="5938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391" t="-1374314" r="-2915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98024" y="1638106"/>
            <a:ext cx="2369115" cy="1976249"/>
          </a:xfrm>
          <a:custGeom>
            <a:avLst/>
            <a:gdLst/>
            <a:ahLst/>
            <a:cxnLst/>
            <a:rect l="l" t="t" r="r" b="b"/>
            <a:pathLst>
              <a:path w="2369115" h="1976249">
                <a:moveTo>
                  <a:pt x="0" y="0"/>
                </a:moveTo>
                <a:lnTo>
                  <a:pt x="2369115" y="0"/>
                </a:lnTo>
                <a:lnTo>
                  <a:pt x="2369115" y="1976249"/>
                </a:lnTo>
                <a:lnTo>
                  <a:pt x="0" y="19762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98024" y="1820249"/>
            <a:ext cx="555831" cy="546428"/>
          </a:xfrm>
          <a:custGeom>
            <a:avLst/>
            <a:gdLst/>
            <a:ahLst/>
            <a:cxnLst/>
            <a:rect l="l" t="t" r="r" b="b"/>
            <a:pathLst>
              <a:path w="555831" h="546428">
                <a:moveTo>
                  <a:pt x="0" y="0"/>
                </a:moveTo>
                <a:lnTo>
                  <a:pt x="555831" y="0"/>
                </a:lnTo>
                <a:lnTo>
                  <a:pt x="555831" y="546429"/>
                </a:lnTo>
                <a:lnTo>
                  <a:pt x="0" y="5464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111065" y="2799164"/>
            <a:ext cx="1706346" cy="43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6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Upload Configuration File (txt . .cfc)</a:t>
            </a:r>
          </a:p>
        </p:txBody>
      </p:sp>
      <p:sp>
        <p:nvSpPr>
          <p:cNvPr id="18" name="Freeform 18"/>
          <p:cNvSpPr/>
          <p:nvPr/>
        </p:nvSpPr>
        <p:spPr>
          <a:xfrm>
            <a:off x="2775787" y="2530606"/>
            <a:ext cx="2004635" cy="364286"/>
          </a:xfrm>
          <a:custGeom>
            <a:avLst/>
            <a:gdLst/>
            <a:ahLst/>
            <a:cxnLst/>
            <a:rect l="l" t="t" r="r" b="b"/>
            <a:pathLst>
              <a:path w="2004635" h="364286">
                <a:moveTo>
                  <a:pt x="0" y="0"/>
                </a:moveTo>
                <a:lnTo>
                  <a:pt x="2004636" y="0"/>
                </a:lnTo>
                <a:lnTo>
                  <a:pt x="2004636" y="364285"/>
                </a:lnTo>
                <a:lnTo>
                  <a:pt x="0" y="3642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589071" y="1638106"/>
            <a:ext cx="3098073" cy="2149285"/>
          </a:xfrm>
          <a:custGeom>
            <a:avLst/>
            <a:gdLst/>
            <a:ahLst/>
            <a:cxnLst/>
            <a:rect l="l" t="t" r="r" b="b"/>
            <a:pathLst>
              <a:path w="3098073" h="2149285">
                <a:moveTo>
                  <a:pt x="0" y="0"/>
                </a:moveTo>
                <a:lnTo>
                  <a:pt x="3098073" y="0"/>
                </a:lnTo>
                <a:lnTo>
                  <a:pt x="3098073" y="2149285"/>
                </a:lnTo>
                <a:lnTo>
                  <a:pt x="0" y="21492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4771311" y="1820249"/>
            <a:ext cx="373591" cy="546428"/>
          </a:xfrm>
          <a:custGeom>
            <a:avLst/>
            <a:gdLst/>
            <a:ahLst/>
            <a:cxnLst/>
            <a:rect l="l" t="t" r="r" b="b"/>
            <a:pathLst>
              <a:path w="373591" h="546428">
                <a:moveTo>
                  <a:pt x="0" y="0"/>
                </a:moveTo>
                <a:lnTo>
                  <a:pt x="373591" y="0"/>
                </a:lnTo>
                <a:lnTo>
                  <a:pt x="373591" y="546429"/>
                </a:lnTo>
                <a:lnTo>
                  <a:pt x="0" y="5464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864748" y="3605248"/>
            <a:ext cx="364479" cy="719464"/>
          </a:xfrm>
          <a:custGeom>
            <a:avLst/>
            <a:gdLst/>
            <a:ahLst/>
            <a:cxnLst/>
            <a:rect l="l" t="t" r="r" b="b"/>
            <a:pathLst>
              <a:path w="364479" h="719464">
                <a:moveTo>
                  <a:pt x="0" y="0"/>
                </a:moveTo>
                <a:lnTo>
                  <a:pt x="364479" y="0"/>
                </a:lnTo>
                <a:lnTo>
                  <a:pt x="364479" y="719464"/>
                </a:lnTo>
                <a:lnTo>
                  <a:pt x="0" y="7194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382455" y="3844065"/>
            <a:ext cx="1081701" cy="36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"/>
              </a:lnSpc>
            </a:pPr>
            <a:r>
              <a:rPr lang="en-US" sz="1246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Configuration + Vendor Info</a:t>
            </a:r>
          </a:p>
        </p:txBody>
      </p:sp>
      <p:sp>
        <p:nvSpPr>
          <p:cNvPr id="23" name="Freeform 23"/>
          <p:cNvSpPr/>
          <p:nvPr/>
        </p:nvSpPr>
        <p:spPr>
          <a:xfrm>
            <a:off x="7495793" y="2712749"/>
            <a:ext cx="1093438" cy="364286"/>
          </a:xfrm>
          <a:custGeom>
            <a:avLst/>
            <a:gdLst/>
            <a:ahLst/>
            <a:cxnLst/>
            <a:rect l="l" t="t" r="r" b="b"/>
            <a:pathLst>
              <a:path w="1093438" h="364286">
                <a:moveTo>
                  <a:pt x="0" y="0"/>
                </a:moveTo>
                <a:lnTo>
                  <a:pt x="1093437" y="0"/>
                </a:lnTo>
                <a:lnTo>
                  <a:pt x="1093437" y="364285"/>
                </a:lnTo>
                <a:lnTo>
                  <a:pt x="0" y="3642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397879" y="1638106"/>
            <a:ext cx="2915833" cy="2331427"/>
          </a:xfrm>
          <a:custGeom>
            <a:avLst/>
            <a:gdLst/>
            <a:ahLst/>
            <a:cxnLst/>
            <a:rect l="l" t="t" r="r" b="b"/>
            <a:pathLst>
              <a:path w="2915833" h="2331427">
                <a:moveTo>
                  <a:pt x="0" y="0"/>
                </a:moveTo>
                <a:lnTo>
                  <a:pt x="2915833" y="0"/>
                </a:lnTo>
                <a:lnTo>
                  <a:pt x="2915833" y="2331428"/>
                </a:lnTo>
                <a:lnTo>
                  <a:pt x="0" y="233142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397879" y="1820249"/>
            <a:ext cx="555831" cy="546428"/>
          </a:xfrm>
          <a:custGeom>
            <a:avLst/>
            <a:gdLst/>
            <a:ahLst/>
            <a:cxnLst/>
            <a:rect l="l" t="t" r="r" b="b"/>
            <a:pathLst>
              <a:path w="555831" h="546428">
                <a:moveTo>
                  <a:pt x="0" y="0"/>
                </a:moveTo>
                <a:lnTo>
                  <a:pt x="555830" y="0"/>
                </a:lnTo>
                <a:lnTo>
                  <a:pt x="555830" y="546429"/>
                </a:lnTo>
                <a:lnTo>
                  <a:pt x="0" y="54642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1122360" y="2712749"/>
            <a:ext cx="1093438" cy="364286"/>
          </a:xfrm>
          <a:custGeom>
            <a:avLst/>
            <a:gdLst/>
            <a:ahLst/>
            <a:cxnLst/>
            <a:rect l="l" t="t" r="r" b="b"/>
            <a:pathLst>
              <a:path w="1093438" h="364286">
                <a:moveTo>
                  <a:pt x="0" y="0"/>
                </a:moveTo>
                <a:lnTo>
                  <a:pt x="1093438" y="0"/>
                </a:lnTo>
                <a:lnTo>
                  <a:pt x="1093438" y="364285"/>
                </a:lnTo>
                <a:lnTo>
                  <a:pt x="0" y="36428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2024446" y="1638106"/>
            <a:ext cx="2915833" cy="2149285"/>
          </a:xfrm>
          <a:custGeom>
            <a:avLst/>
            <a:gdLst/>
            <a:ahLst/>
            <a:cxnLst/>
            <a:rect l="l" t="t" r="r" b="b"/>
            <a:pathLst>
              <a:path w="2915833" h="2149285">
                <a:moveTo>
                  <a:pt x="0" y="0"/>
                </a:moveTo>
                <a:lnTo>
                  <a:pt x="2915834" y="0"/>
                </a:lnTo>
                <a:lnTo>
                  <a:pt x="2915834" y="2149285"/>
                </a:lnTo>
                <a:lnTo>
                  <a:pt x="0" y="214928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2206686" y="1820249"/>
            <a:ext cx="555831" cy="546428"/>
          </a:xfrm>
          <a:custGeom>
            <a:avLst/>
            <a:gdLst/>
            <a:ahLst/>
            <a:cxnLst/>
            <a:rect l="l" t="t" r="r" b="b"/>
            <a:pathLst>
              <a:path w="555831" h="546428">
                <a:moveTo>
                  <a:pt x="0" y="0"/>
                </a:moveTo>
                <a:lnTo>
                  <a:pt x="555831" y="0"/>
                </a:lnTo>
                <a:lnTo>
                  <a:pt x="555831" y="546429"/>
                </a:lnTo>
                <a:lnTo>
                  <a:pt x="0" y="54642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44743" y="3423105"/>
            <a:ext cx="191352" cy="5719283"/>
          </a:xfrm>
          <a:custGeom>
            <a:avLst/>
            <a:gdLst/>
            <a:ahLst/>
            <a:cxnLst/>
            <a:rect l="l" t="t" r="r" b="b"/>
            <a:pathLst>
              <a:path w="191352" h="5719283">
                <a:moveTo>
                  <a:pt x="0" y="0"/>
                </a:moveTo>
                <a:lnTo>
                  <a:pt x="191351" y="0"/>
                </a:lnTo>
                <a:lnTo>
                  <a:pt x="191351" y="5719283"/>
                </a:lnTo>
                <a:lnTo>
                  <a:pt x="0" y="571928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691462" y="4142569"/>
            <a:ext cx="12337620" cy="2206081"/>
          </a:xfrm>
          <a:custGeom>
            <a:avLst/>
            <a:gdLst/>
            <a:ahLst/>
            <a:cxnLst/>
            <a:rect l="l" t="t" r="r" b="b"/>
            <a:pathLst>
              <a:path w="12337620" h="2206081">
                <a:moveTo>
                  <a:pt x="0" y="0"/>
                </a:moveTo>
                <a:lnTo>
                  <a:pt x="12337620" y="0"/>
                </a:lnTo>
                <a:lnTo>
                  <a:pt x="12337620" y="2206081"/>
                </a:lnTo>
                <a:lnTo>
                  <a:pt x="0" y="220608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1321" r="-1321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873701" y="4315605"/>
            <a:ext cx="546719" cy="546428"/>
          </a:xfrm>
          <a:custGeom>
            <a:avLst/>
            <a:gdLst/>
            <a:ahLst/>
            <a:cxnLst/>
            <a:rect l="l" t="t" r="r" b="b"/>
            <a:pathLst>
              <a:path w="546719" h="546428">
                <a:moveTo>
                  <a:pt x="0" y="0"/>
                </a:moveTo>
                <a:lnTo>
                  <a:pt x="546719" y="0"/>
                </a:lnTo>
                <a:lnTo>
                  <a:pt x="546719" y="546428"/>
                </a:lnTo>
                <a:lnTo>
                  <a:pt x="0" y="54642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873701" y="4862033"/>
            <a:ext cx="1822396" cy="1256785"/>
          </a:xfrm>
          <a:custGeom>
            <a:avLst/>
            <a:gdLst/>
            <a:ahLst/>
            <a:cxnLst/>
            <a:rect l="l" t="t" r="r" b="b"/>
            <a:pathLst>
              <a:path w="1822396" h="1256785">
                <a:moveTo>
                  <a:pt x="0" y="0"/>
                </a:moveTo>
                <a:lnTo>
                  <a:pt x="1822396" y="0"/>
                </a:lnTo>
                <a:lnTo>
                  <a:pt x="1822396" y="1256785"/>
                </a:lnTo>
                <a:lnTo>
                  <a:pt x="0" y="125678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3686985" y="4852926"/>
            <a:ext cx="1640156" cy="1256785"/>
          </a:xfrm>
          <a:custGeom>
            <a:avLst/>
            <a:gdLst/>
            <a:ahLst/>
            <a:cxnLst/>
            <a:rect l="l" t="t" r="r" b="b"/>
            <a:pathLst>
              <a:path w="1640156" h="1256785">
                <a:moveTo>
                  <a:pt x="0" y="0"/>
                </a:moveTo>
                <a:lnTo>
                  <a:pt x="1640156" y="0"/>
                </a:lnTo>
                <a:lnTo>
                  <a:pt x="1640156" y="1256785"/>
                </a:lnTo>
                <a:lnTo>
                  <a:pt x="0" y="125678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4020994" y="5625861"/>
            <a:ext cx="944584" cy="36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9"/>
              </a:lnSpc>
            </a:pPr>
            <a:r>
              <a:rPr lang="en-US" sz="1224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Convert to common model</a:t>
            </a:r>
          </a:p>
        </p:txBody>
      </p:sp>
      <p:sp>
        <p:nvSpPr>
          <p:cNvPr id="35" name="Freeform 35"/>
          <p:cNvSpPr/>
          <p:nvPr/>
        </p:nvSpPr>
        <p:spPr>
          <a:xfrm>
            <a:off x="5318030" y="4852926"/>
            <a:ext cx="1822396" cy="1256785"/>
          </a:xfrm>
          <a:custGeom>
            <a:avLst/>
            <a:gdLst/>
            <a:ahLst/>
            <a:cxnLst/>
            <a:rect l="l" t="t" r="r" b="b"/>
            <a:pathLst>
              <a:path w="1822396" h="1256785">
                <a:moveTo>
                  <a:pt x="0" y="0"/>
                </a:moveTo>
                <a:lnTo>
                  <a:pt x="1822395" y="0"/>
                </a:lnTo>
                <a:lnTo>
                  <a:pt x="1822395" y="1256785"/>
                </a:lnTo>
                <a:lnTo>
                  <a:pt x="0" y="125678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6949074" y="4852926"/>
            <a:ext cx="1822396" cy="1256785"/>
          </a:xfrm>
          <a:custGeom>
            <a:avLst/>
            <a:gdLst/>
            <a:ahLst/>
            <a:cxnLst/>
            <a:rect l="l" t="t" r="r" b="b"/>
            <a:pathLst>
              <a:path w="1822396" h="1256785">
                <a:moveTo>
                  <a:pt x="0" y="0"/>
                </a:moveTo>
                <a:lnTo>
                  <a:pt x="1822396" y="0"/>
                </a:lnTo>
                <a:lnTo>
                  <a:pt x="1822396" y="1256785"/>
                </a:lnTo>
                <a:lnTo>
                  <a:pt x="0" y="125678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8762358" y="4852926"/>
            <a:ext cx="1640156" cy="1256785"/>
          </a:xfrm>
          <a:custGeom>
            <a:avLst/>
            <a:gdLst/>
            <a:ahLst/>
            <a:cxnLst/>
            <a:rect l="l" t="t" r="r" b="b"/>
            <a:pathLst>
              <a:path w="1640156" h="1256785">
                <a:moveTo>
                  <a:pt x="0" y="0"/>
                </a:moveTo>
                <a:lnTo>
                  <a:pt x="1640156" y="0"/>
                </a:lnTo>
                <a:lnTo>
                  <a:pt x="1640156" y="1256785"/>
                </a:lnTo>
                <a:lnTo>
                  <a:pt x="0" y="125678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0393402" y="4852926"/>
            <a:ext cx="1631044" cy="1247678"/>
          </a:xfrm>
          <a:custGeom>
            <a:avLst/>
            <a:gdLst/>
            <a:ahLst/>
            <a:cxnLst/>
            <a:rect l="l" t="t" r="r" b="b"/>
            <a:pathLst>
              <a:path w="1631044" h="1247678">
                <a:moveTo>
                  <a:pt x="0" y="0"/>
                </a:moveTo>
                <a:lnTo>
                  <a:pt x="1631044" y="0"/>
                </a:lnTo>
                <a:lnTo>
                  <a:pt x="1631044" y="1247678"/>
                </a:lnTo>
                <a:lnTo>
                  <a:pt x="0" y="1247678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t="-85" b="-85"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2024446" y="4852926"/>
            <a:ext cx="1822396" cy="1256785"/>
          </a:xfrm>
          <a:custGeom>
            <a:avLst/>
            <a:gdLst/>
            <a:ahLst/>
            <a:cxnLst/>
            <a:rect l="l" t="t" r="r" b="b"/>
            <a:pathLst>
              <a:path w="1822396" h="1256785">
                <a:moveTo>
                  <a:pt x="0" y="0"/>
                </a:moveTo>
                <a:lnTo>
                  <a:pt x="1822396" y="0"/>
                </a:lnTo>
                <a:lnTo>
                  <a:pt x="1822396" y="1256785"/>
                </a:lnTo>
                <a:lnTo>
                  <a:pt x="0" y="125678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7860272" y="6100604"/>
            <a:ext cx="182240" cy="1083749"/>
          </a:xfrm>
          <a:custGeom>
            <a:avLst/>
            <a:gdLst/>
            <a:ahLst/>
            <a:cxnLst/>
            <a:rect l="l" t="t" r="r" b="b"/>
            <a:pathLst>
              <a:path w="182240" h="1083749">
                <a:moveTo>
                  <a:pt x="0" y="0"/>
                </a:moveTo>
                <a:lnTo>
                  <a:pt x="182239" y="0"/>
                </a:lnTo>
                <a:lnTo>
                  <a:pt x="182239" y="1083749"/>
                </a:lnTo>
                <a:lnTo>
                  <a:pt x="0" y="108374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6402355" y="6282747"/>
            <a:ext cx="2915833" cy="546428"/>
          </a:xfrm>
          <a:custGeom>
            <a:avLst/>
            <a:gdLst/>
            <a:ahLst/>
            <a:cxnLst/>
            <a:rect l="l" t="t" r="r" b="b"/>
            <a:pathLst>
              <a:path w="2915833" h="546428">
                <a:moveTo>
                  <a:pt x="0" y="0"/>
                </a:moveTo>
                <a:lnTo>
                  <a:pt x="2915833" y="0"/>
                </a:lnTo>
                <a:lnTo>
                  <a:pt x="2915833" y="546428"/>
                </a:lnTo>
                <a:lnTo>
                  <a:pt x="0" y="546428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2055941" y="6993104"/>
            <a:ext cx="3271201" cy="1794106"/>
          </a:xfrm>
          <a:custGeom>
            <a:avLst/>
            <a:gdLst/>
            <a:ahLst/>
            <a:cxnLst/>
            <a:rect l="l" t="t" r="r" b="b"/>
            <a:pathLst>
              <a:path w="3271201" h="1794106">
                <a:moveTo>
                  <a:pt x="0" y="0"/>
                </a:moveTo>
                <a:lnTo>
                  <a:pt x="3271200" y="0"/>
                </a:lnTo>
                <a:lnTo>
                  <a:pt x="3271200" y="1794106"/>
                </a:lnTo>
                <a:lnTo>
                  <a:pt x="0" y="179410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2229068" y="6993104"/>
            <a:ext cx="555831" cy="546428"/>
          </a:xfrm>
          <a:custGeom>
            <a:avLst/>
            <a:gdLst/>
            <a:ahLst/>
            <a:cxnLst/>
            <a:rect l="l" t="t" r="r" b="b"/>
            <a:pathLst>
              <a:path w="555831" h="546428">
                <a:moveTo>
                  <a:pt x="0" y="0"/>
                </a:moveTo>
                <a:lnTo>
                  <a:pt x="555831" y="0"/>
                </a:lnTo>
                <a:lnTo>
                  <a:pt x="555831" y="546428"/>
                </a:lnTo>
                <a:lnTo>
                  <a:pt x="0" y="546428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2832646" y="7129185"/>
            <a:ext cx="1614934" cy="32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sz="1868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Node.js Backend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832646" y="7886760"/>
            <a:ext cx="1614934" cy="709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Receive Analysis Result</a:t>
            </a:r>
          </a:p>
          <a:p>
            <a:pPr algn="l">
              <a:lnSpc>
                <a:spcPts val="1903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Store in MongoDB</a:t>
            </a:r>
          </a:p>
          <a:p>
            <a:pPr algn="l">
              <a:lnSpc>
                <a:spcPts val="1903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Provide API for Frontend</a:t>
            </a:r>
          </a:p>
        </p:txBody>
      </p:sp>
      <p:sp>
        <p:nvSpPr>
          <p:cNvPr id="46" name="Freeform 46"/>
          <p:cNvSpPr/>
          <p:nvPr/>
        </p:nvSpPr>
        <p:spPr>
          <a:xfrm>
            <a:off x="5135790" y="7712567"/>
            <a:ext cx="1275677" cy="364286"/>
          </a:xfrm>
          <a:custGeom>
            <a:avLst/>
            <a:gdLst/>
            <a:ahLst/>
            <a:cxnLst/>
            <a:rect l="l" t="t" r="r" b="b"/>
            <a:pathLst>
              <a:path w="1275677" h="364286">
                <a:moveTo>
                  <a:pt x="0" y="0"/>
                </a:moveTo>
                <a:lnTo>
                  <a:pt x="1275677" y="0"/>
                </a:lnTo>
                <a:lnTo>
                  <a:pt x="1275677" y="364286"/>
                </a:lnTo>
                <a:lnTo>
                  <a:pt x="0" y="364286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6220115" y="6993104"/>
            <a:ext cx="3098073" cy="1794106"/>
          </a:xfrm>
          <a:custGeom>
            <a:avLst/>
            <a:gdLst/>
            <a:ahLst/>
            <a:cxnLst/>
            <a:rect l="l" t="t" r="r" b="b"/>
            <a:pathLst>
              <a:path w="3098073" h="1794106">
                <a:moveTo>
                  <a:pt x="0" y="0"/>
                </a:moveTo>
                <a:lnTo>
                  <a:pt x="3098073" y="0"/>
                </a:lnTo>
                <a:lnTo>
                  <a:pt x="3098073" y="1794106"/>
                </a:lnTo>
                <a:lnTo>
                  <a:pt x="0" y="179410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6402355" y="6993104"/>
            <a:ext cx="373591" cy="546428"/>
          </a:xfrm>
          <a:custGeom>
            <a:avLst/>
            <a:gdLst/>
            <a:ahLst/>
            <a:cxnLst/>
            <a:rect l="l" t="t" r="r" b="b"/>
            <a:pathLst>
              <a:path w="373591" h="546428">
                <a:moveTo>
                  <a:pt x="0" y="0"/>
                </a:moveTo>
                <a:lnTo>
                  <a:pt x="373591" y="0"/>
                </a:lnTo>
                <a:lnTo>
                  <a:pt x="373591" y="546428"/>
                </a:lnTo>
                <a:lnTo>
                  <a:pt x="0" y="546428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9126837" y="7712567"/>
            <a:ext cx="1457917" cy="364286"/>
          </a:xfrm>
          <a:custGeom>
            <a:avLst/>
            <a:gdLst/>
            <a:ahLst/>
            <a:cxnLst/>
            <a:rect l="l" t="t" r="r" b="b"/>
            <a:pathLst>
              <a:path w="1457917" h="364286">
                <a:moveTo>
                  <a:pt x="0" y="0"/>
                </a:moveTo>
                <a:lnTo>
                  <a:pt x="1457917" y="0"/>
                </a:lnTo>
                <a:lnTo>
                  <a:pt x="1457917" y="364286"/>
                </a:lnTo>
                <a:lnTo>
                  <a:pt x="0" y="364286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0393402" y="6993104"/>
            <a:ext cx="3098073" cy="1794106"/>
          </a:xfrm>
          <a:custGeom>
            <a:avLst/>
            <a:gdLst/>
            <a:ahLst/>
            <a:cxnLst/>
            <a:rect l="l" t="t" r="r" b="b"/>
            <a:pathLst>
              <a:path w="3098073" h="1794106">
                <a:moveTo>
                  <a:pt x="0" y="0"/>
                </a:moveTo>
                <a:lnTo>
                  <a:pt x="3098073" y="0"/>
                </a:lnTo>
                <a:lnTo>
                  <a:pt x="3098073" y="1794106"/>
                </a:lnTo>
                <a:lnTo>
                  <a:pt x="0" y="1794106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0393402" y="6993104"/>
            <a:ext cx="555831" cy="546428"/>
          </a:xfrm>
          <a:custGeom>
            <a:avLst/>
            <a:gdLst/>
            <a:ahLst/>
            <a:cxnLst/>
            <a:rect l="l" t="t" r="r" b="b"/>
            <a:pathLst>
              <a:path w="555831" h="546428">
                <a:moveTo>
                  <a:pt x="0" y="0"/>
                </a:moveTo>
                <a:lnTo>
                  <a:pt x="555831" y="0"/>
                </a:lnTo>
                <a:lnTo>
                  <a:pt x="555831" y="546428"/>
                </a:lnTo>
                <a:lnTo>
                  <a:pt x="0" y="546428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3300123" y="7885603"/>
            <a:ext cx="911198" cy="1256785"/>
          </a:xfrm>
          <a:custGeom>
            <a:avLst/>
            <a:gdLst/>
            <a:ahLst/>
            <a:cxnLst/>
            <a:rect l="l" t="t" r="r" b="b"/>
            <a:pathLst>
              <a:path w="911198" h="1256785">
                <a:moveTo>
                  <a:pt x="0" y="0"/>
                </a:moveTo>
                <a:lnTo>
                  <a:pt x="911198" y="0"/>
                </a:lnTo>
                <a:lnTo>
                  <a:pt x="911198" y="1256785"/>
                </a:lnTo>
                <a:lnTo>
                  <a:pt x="0" y="1256785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53" name="TextBox 53"/>
          <p:cNvSpPr txBox="1"/>
          <p:nvPr/>
        </p:nvSpPr>
        <p:spPr>
          <a:xfrm>
            <a:off x="4020994" y="5418867"/>
            <a:ext cx="944584" cy="2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6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Normalization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03215" y="5394802"/>
            <a:ext cx="944584" cy="2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6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Risk Analysis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583193" y="5359566"/>
            <a:ext cx="716056" cy="2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6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AI Analysis</a:t>
            </a:r>
          </a:p>
        </p:txBody>
      </p:sp>
      <p:sp>
        <p:nvSpPr>
          <p:cNvPr id="56" name="Freeform 56"/>
          <p:cNvSpPr/>
          <p:nvPr/>
        </p:nvSpPr>
        <p:spPr>
          <a:xfrm>
            <a:off x="2572377" y="4971341"/>
            <a:ext cx="460231" cy="476101"/>
          </a:xfrm>
          <a:custGeom>
            <a:avLst/>
            <a:gdLst/>
            <a:ahLst/>
            <a:cxnLst/>
            <a:rect l="l" t="t" r="r" b="b"/>
            <a:pathLst>
              <a:path w="460231" h="476101">
                <a:moveTo>
                  <a:pt x="0" y="0"/>
                </a:moveTo>
                <a:lnTo>
                  <a:pt x="460231" y="0"/>
                </a:lnTo>
                <a:lnTo>
                  <a:pt x="460231" y="476101"/>
                </a:lnTo>
                <a:lnTo>
                  <a:pt x="0" y="476101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4209530" y="4983488"/>
            <a:ext cx="460231" cy="476101"/>
          </a:xfrm>
          <a:custGeom>
            <a:avLst/>
            <a:gdLst/>
            <a:ahLst/>
            <a:cxnLst/>
            <a:rect l="l" t="t" r="r" b="b"/>
            <a:pathLst>
              <a:path w="460231" h="476101">
                <a:moveTo>
                  <a:pt x="0" y="0"/>
                </a:moveTo>
                <a:lnTo>
                  <a:pt x="460231" y="0"/>
                </a:lnTo>
                <a:lnTo>
                  <a:pt x="460231" y="476101"/>
                </a:lnTo>
                <a:lnTo>
                  <a:pt x="0" y="476101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6014428" y="4931406"/>
            <a:ext cx="309466" cy="476101"/>
          </a:xfrm>
          <a:custGeom>
            <a:avLst/>
            <a:gdLst/>
            <a:ahLst/>
            <a:cxnLst/>
            <a:rect l="l" t="t" r="r" b="b"/>
            <a:pathLst>
              <a:path w="309466" h="476101">
                <a:moveTo>
                  <a:pt x="0" y="0"/>
                </a:moveTo>
                <a:lnTo>
                  <a:pt x="309466" y="0"/>
                </a:lnTo>
                <a:lnTo>
                  <a:pt x="309466" y="476101"/>
                </a:lnTo>
                <a:lnTo>
                  <a:pt x="0" y="476101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7602225" y="4947630"/>
            <a:ext cx="468166" cy="626866"/>
          </a:xfrm>
          <a:custGeom>
            <a:avLst/>
            <a:gdLst/>
            <a:ahLst/>
            <a:cxnLst/>
            <a:rect l="l" t="t" r="r" b="b"/>
            <a:pathLst>
              <a:path w="468166" h="626866">
                <a:moveTo>
                  <a:pt x="0" y="0"/>
                </a:moveTo>
                <a:lnTo>
                  <a:pt x="468166" y="0"/>
                </a:lnTo>
                <a:lnTo>
                  <a:pt x="468166" y="626866"/>
                </a:lnTo>
                <a:lnTo>
                  <a:pt x="0" y="626866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9438011" y="4983488"/>
            <a:ext cx="468166" cy="476101"/>
          </a:xfrm>
          <a:custGeom>
            <a:avLst/>
            <a:gdLst/>
            <a:ahLst/>
            <a:cxnLst/>
            <a:rect l="l" t="t" r="r" b="b"/>
            <a:pathLst>
              <a:path w="468166" h="476101">
                <a:moveTo>
                  <a:pt x="0" y="0"/>
                </a:moveTo>
                <a:lnTo>
                  <a:pt x="468166" y="0"/>
                </a:lnTo>
                <a:lnTo>
                  <a:pt x="468166" y="476101"/>
                </a:lnTo>
                <a:lnTo>
                  <a:pt x="0" y="476101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/>
            </a:stretch>
          </a:blipFill>
        </p:spPr>
      </p:sp>
      <p:sp>
        <p:nvSpPr>
          <p:cNvPr id="61" name="Freeform 61"/>
          <p:cNvSpPr/>
          <p:nvPr/>
        </p:nvSpPr>
        <p:spPr>
          <a:xfrm>
            <a:off x="11076990" y="4947276"/>
            <a:ext cx="460231" cy="476101"/>
          </a:xfrm>
          <a:custGeom>
            <a:avLst/>
            <a:gdLst/>
            <a:ahLst/>
            <a:cxnLst/>
            <a:rect l="l" t="t" r="r" b="b"/>
            <a:pathLst>
              <a:path w="460231" h="476101">
                <a:moveTo>
                  <a:pt x="0" y="0"/>
                </a:moveTo>
                <a:lnTo>
                  <a:pt x="460231" y="0"/>
                </a:lnTo>
                <a:lnTo>
                  <a:pt x="460231" y="476101"/>
                </a:lnTo>
                <a:lnTo>
                  <a:pt x="0" y="476101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12667183" y="4931406"/>
            <a:ext cx="460231" cy="476101"/>
          </a:xfrm>
          <a:custGeom>
            <a:avLst/>
            <a:gdLst/>
            <a:ahLst/>
            <a:cxnLst/>
            <a:rect l="l" t="t" r="r" b="b"/>
            <a:pathLst>
              <a:path w="460231" h="476101">
                <a:moveTo>
                  <a:pt x="0" y="0"/>
                </a:moveTo>
                <a:lnTo>
                  <a:pt x="460231" y="0"/>
                </a:lnTo>
                <a:lnTo>
                  <a:pt x="460231" y="476101"/>
                </a:lnTo>
                <a:lnTo>
                  <a:pt x="0" y="476101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4864962" y="2671224"/>
            <a:ext cx="1071227" cy="634801"/>
          </a:xfrm>
          <a:custGeom>
            <a:avLst/>
            <a:gdLst/>
            <a:ahLst/>
            <a:cxnLst/>
            <a:rect l="l" t="t" r="r" b="b"/>
            <a:pathLst>
              <a:path w="1071227" h="634801">
                <a:moveTo>
                  <a:pt x="0" y="0"/>
                </a:moveTo>
                <a:lnTo>
                  <a:pt x="1071227" y="0"/>
                </a:lnTo>
                <a:lnTo>
                  <a:pt x="1071227" y="634801"/>
                </a:lnTo>
                <a:lnTo>
                  <a:pt x="0" y="634801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/>
            </a:stretch>
          </a:blipFill>
        </p:spPr>
      </p:sp>
      <p:sp>
        <p:nvSpPr>
          <p:cNvPr id="64" name="Freeform 64"/>
          <p:cNvSpPr/>
          <p:nvPr/>
        </p:nvSpPr>
        <p:spPr>
          <a:xfrm>
            <a:off x="8692385" y="2465231"/>
            <a:ext cx="404986" cy="820356"/>
          </a:xfrm>
          <a:custGeom>
            <a:avLst/>
            <a:gdLst/>
            <a:ahLst/>
            <a:cxnLst/>
            <a:rect l="l" t="t" r="r" b="b"/>
            <a:pathLst>
              <a:path w="404986" h="820356">
                <a:moveTo>
                  <a:pt x="0" y="0"/>
                </a:moveTo>
                <a:lnTo>
                  <a:pt x="404986" y="0"/>
                </a:lnTo>
                <a:lnTo>
                  <a:pt x="404986" y="820357"/>
                </a:lnTo>
                <a:lnTo>
                  <a:pt x="0" y="820357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/>
            </a:stretch>
          </a:blipFill>
        </p:spPr>
      </p:sp>
      <p:sp>
        <p:nvSpPr>
          <p:cNvPr id="65" name="Freeform 65"/>
          <p:cNvSpPr/>
          <p:nvPr/>
        </p:nvSpPr>
        <p:spPr>
          <a:xfrm>
            <a:off x="12514317" y="2634166"/>
            <a:ext cx="468166" cy="476101"/>
          </a:xfrm>
          <a:custGeom>
            <a:avLst/>
            <a:gdLst/>
            <a:ahLst/>
            <a:cxnLst/>
            <a:rect l="l" t="t" r="r" b="b"/>
            <a:pathLst>
              <a:path w="468166" h="476101">
                <a:moveTo>
                  <a:pt x="0" y="0"/>
                </a:moveTo>
                <a:lnTo>
                  <a:pt x="468166" y="0"/>
                </a:lnTo>
                <a:lnTo>
                  <a:pt x="468166" y="476101"/>
                </a:lnTo>
                <a:lnTo>
                  <a:pt x="0" y="476101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/>
            </a:stretch>
          </a:blipFill>
        </p:spPr>
      </p:sp>
      <p:sp>
        <p:nvSpPr>
          <p:cNvPr id="66" name="Freeform 66"/>
          <p:cNvSpPr/>
          <p:nvPr/>
        </p:nvSpPr>
        <p:spPr>
          <a:xfrm>
            <a:off x="3040543" y="7340527"/>
            <a:ext cx="920462" cy="634801"/>
          </a:xfrm>
          <a:custGeom>
            <a:avLst/>
            <a:gdLst/>
            <a:ahLst/>
            <a:cxnLst/>
            <a:rect l="l" t="t" r="r" b="b"/>
            <a:pathLst>
              <a:path w="920462" h="634801">
                <a:moveTo>
                  <a:pt x="0" y="0"/>
                </a:moveTo>
                <a:lnTo>
                  <a:pt x="920462" y="0"/>
                </a:lnTo>
                <a:lnTo>
                  <a:pt x="920462" y="634802"/>
                </a:lnTo>
                <a:lnTo>
                  <a:pt x="0" y="634802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/>
            </a:stretch>
          </a:blipFill>
        </p:spPr>
      </p:sp>
      <p:sp>
        <p:nvSpPr>
          <p:cNvPr id="67" name="Freeform 67"/>
          <p:cNvSpPr/>
          <p:nvPr/>
        </p:nvSpPr>
        <p:spPr>
          <a:xfrm>
            <a:off x="6823556" y="7486057"/>
            <a:ext cx="468166" cy="944267"/>
          </a:xfrm>
          <a:custGeom>
            <a:avLst/>
            <a:gdLst/>
            <a:ahLst/>
            <a:cxnLst/>
            <a:rect l="l" t="t" r="r" b="b"/>
            <a:pathLst>
              <a:path w="468166" h="944267">
                <a:moveTo>
                  <a:pt x="0" y="0"/>
                </a:moveTo>
                <a:lnTo>
                  <a:pt x="468166" y="0"/>
                </a:lnTo>
                <a:lnTo>
                  <a:pt x="468166" y="944267"/>
                </a:lnTo>
                <a:lnTo>
                  <a:pt x="0" y="944267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/>
            </a:stretch>
          </a:blipFill>
        </p:spPr>
      </p:sp>
      <p:sp>
        <p:nvSpPr>
          <p:cNvPr id="68" name="Freeform 68"/>
          <p:cNvSpPr/>
          <p:nvPr/>
        </p:nvSpPr>
        <p:spPr>
          <a:xfrm>
            <a:off x="1394471" y="2298409"/>
            <a:ext cx="539297" cy="464394"/>
          </a:xfrm>
          <a:custGeom>
            <a:avLst/>
            <a:gdLst/>
            <a:ahLst/>
            <a:cxnLst/>
            <a:rect l="l" t="t" r="r" b="b"/>
            <a:pathLst>
              <a:path w="539297" h="464394">
                <a:moveTo>
                  <a:pt x="0" y="0"/>
                </a:moveTo>
                <a:lnTo>
                  <a:pt x="539296" y="0"/>
                </a:lnTo>
                <a:lnTo>
                  <a:pt x="539296" y="464394"/>
                </a:lnTo>
                <a:lnTo>
                  <a:pt x="0" y="46439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/>
            </a:stretch>
          </a:blipFill>
        </p:spPr>
      </p:sp>
      <p:sp>
        <p:nvSpPr>
          <p:cNvPr id="69" name="Freeform 69"/>
          <p:cNvSpPr/>
          <p:nvPr/>
        </p:nvSpPr>
        <p:spPr>
          <a:xfrm>
            <a:off x="10754965" y="7657928"/>
            <a:ext cx="681692" cy="587013"/>
          </a:xfrm>
          <a:custGeom>
            <a:avLst/>
            <a:gdLst/>
            <a:ahLst/>
            <a:cxnLst/>
            <a:rect l="l" t="t" r="r" b="b"/>
            <a:pathLst>
              <a:path w="681692" h="587013">
                <a:moveTo>
                  <a:pt x="0" y="0"/>
                </a:moveTo>
                <a:lnTo>
                  <a:pt x="681693" y="0"/>
                </a:lnTo>
                <a:lnTo>
                  <a:pt x="681693" y="587013"/>
                </a:lnTo>
                <a:lnTo>
                  <a:pt x="0" y="587013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/>
            </a:stretch>
          </a:blipFill>
        </p:spPr>
      </p:sp>
      <p:sp>
        <p:nvSpPr>
          <p:cNvPr id="70" name="Freeform 70"/>
          <p:cNvSpPr/>
          <p:nvPr/>
        </p:nvSpPr>
        <p:spPr>
          <a:xfrm>
            <a:off x="5124592" y="4411882"/>
            <a:ext cx="551967" cy="519524"/>
          </a:xfrm>
          <a:custGeom>
            <a:avLst/>
            <a:gdLst/>
            <a:ahLst/>
            <a:cxnLst/>
            <a:rect l="l" t="t" r="r" b="b"/>
            <a:pathLst>
              <a:path w="551967" h="519524">
                <a:moveTo>
                  <a:pt x="0" y="0"/>
                </a:moveTo>
                <a:lnTo>
                  <a:pt x="551967" y="0"/>
                </a:lnTo>
                <a:lnTo>
                  <a:pt x="551967" y="519524"/>
                </a:lnTo>
                <a:lnTo>
                  <a:pt x="0" y="519524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/>
            </a:stretch>
          </a:blipFill>
        </p:spPr>
      </p:sp>
      <p:sp>
        <p:nvSpPr>
          <p:cNvPr id="71" name="TextBox 71"/>
          <p:cNvSpPr txBox="1"/>
          <p:nvPr/>
        </p:nvSpPr>
        <p:spPr>
          <a:xfrm>
            <a:off x="1156771" y="1899044"/>
            <a:ext cx="1553993" cy="343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8"/>
              </a:lnSpc>
            </a:pPr>
            <a:r>
              <a:rPr lang="en-US" sz="1962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EJS Frontend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152586" y="2749652"/>
            <a:ext cx="1310230" cy="43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6"/>
              </a:lnSpc>
            </a:pPr>
            <a:r>
              <a:rPr lang="en-US" sz="1269" b="1">
                <a:solidFill>
                  <a:srgbClr val="004AAD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API Request</a:t>
            </a:r>
          </a:p>
          <a:p>
            <a:pPr algn="l">
              <a:lnSpc>
                <a:spcPts val="1776"/>
              </a:lnSpc>
            </a:pPr>
            <a:r>
              <a:rPr lang="en-US" sz="1269" b="1">
                <a:solidFill>
                  <a:srgbClr val="004AAD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(File + Device Info)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307968" y="1939327"/>
            <a:ext cx="1523523" cy="51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717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Node.js / Express Backend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963803" y="2638177"/>
            <a:ext cx="1432112" cy="77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Validate File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Detect Vendor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Store Metadata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Send to Python Engine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002914" y="1969275"/>
            <a:ext cx="1432112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MongoDB Atlas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430642" y="2432354"/>
            <a:ext cx="1005525" cy="115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Users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Devices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Configurations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Audits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Findings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Reports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2826957" y="1970054"/>
            <a:ext cx="1614934" cy="537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Configuration File Storage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3212598" y="2717912"/>
            <a:ext cx="1203583" cy="43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6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Store uploaded configuration files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467000" y="4402270"/>
            <a:ext cx="2757577" cy="37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198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Python Security Engine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253707" y="5418867"/>
            <a:ext cx="1081701" cy="2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6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Vendor Parsers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345119" y="5659384"/>
            <a:ext cx="944584" cy="36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"/>
              </a:lnSpc>
            </a:pPr>
            <a:r>
              <a:rPr lang="en-US" sz="1246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Cisco, Juniper, Fortinet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547212" y="5439247"/>
            <a:ext cx="1345806" cy="182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"/>
              </a:lnSpc>
            </a:pPr>
            <a:r>
              <a:rPr lang="en-US" sz="1246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Security Rule Engine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696869" y="5657601"/>
            <a:ext cx="944584" cy="36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"/>
              </a:lnSpc>
            </a:pPr>
            <a:r>
              <a:rPr lang="en-US" sz="1246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Check against security rules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525097" y="5633796"/>
            <a:ext cx="700821" cy="36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"/>
              </a:lnSpc>
            </a:pPr>
            <a:r>
              <a:rPr lang="en-US" sz="1246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Assign risk level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926738" y="5451779"/>
            <a:ext cx="1279759" cy="2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6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Exposure Analysis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9033384" y="5657184"/>
            <a:ext cx="1081701" cy="355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"/>
              </a:lnSpc>
            </a:pPr>
            <a:r>
              <a:rPr lang="en-US" sz="117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ACL, Reachability, Attack Surface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800671" y="5604369"/>
            <a:ext cx="944584" cy="36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"/>
              </a:lnSpc>
            </a:pPr>
            <a:r>
              <a:rPr lang="en-US" sz="1246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Compare old vs new config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2522252" y="5609731"/>
            <a:ext cx="853173" cy="36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2"/>
              </a:lnSpc>
            </a:pPr>
            <a:r>
              <a:rPr lang="en-US" sz="1201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Explanation &amp; Remediation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976628" y="7133522"/>
            <a:ext cx="1310230" cy="26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3"/>
              </a:lnSpc>
            </a:pPr>
            <a:r>
              <a:rPr lang="en-US" sz="1616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MongoDB Atlas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731090" y="7481139"/>
            <a:ext cx="1203583" cy="965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Audits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Findings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Risk Levels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Remediation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Compliance Score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1044435" y="7121273"/>
            <a:ext cx="1553993" cy="343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8"/>
              </a:lnSpc>
            </a:pPr>
            <a:r>
              <a:rPr lang="en-US" sz="1962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EJS Frontend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1577668" y="7648403"/>
            <a:ext cx="1249289" cy="965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Display Results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Findings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Risk Levels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Recommendations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Re-audit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882537" y="1969275"/>
            <a:ext cx="91411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1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904637" y="1969275"/>
            <a:ext cx="121882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2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8667739" y="1969275"/>
            <a:ext cx="121882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3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2385135" y="1969275"/>
            <a:ext cx="137117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4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2086120" y="4437382"/>
            <a:ext cx="121882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5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436530" y="7171154"/>
            <a:ext cx="121882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6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489101" y="7171154"/>
            <a:ext cx="121882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7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0694024" y="7171154"/>
            <a:ext cx="121882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8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0770201" y="5394802"/>
            <a:ext cx="1035996" cy="2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6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Drift Detection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946158" y="6523221"/>
            <a:ext cx="1934874" cy="182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9"/>
              </a:lnSpc>
            </a:pPr>
            <a:r>
              <a:rPr lang="en-US" sz="1224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Structured Result (JSON from)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115681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88658" y="1693850"/>
            <a:ext cx="10448458" cy="8985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Analysis of Feasibility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File-based MVP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no live-device access required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Modular architecture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easy to extend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Hybrid AI + Rules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reliable validation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API-ready design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supports future integrations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Scalable knowledge base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new mappings can be added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Cloud deployable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suitable for centralized auditing</a:t>
            </a: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Potential Challenges &amp; Risks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Vendor syntax variations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Unknown configuration commands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interpretation errors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 configuration files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Changing compliance standards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Sensitive configuration data</a:t>
            </a: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lvl="1" indent="-271462" algn="just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65931" y="153143"/>
            <a:ext cx="2285829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8EB4E3"/>
                </a:solidFill>
                <a:latin typeface="Arial Bold"/>
                <a:ea typeface="Arial Bold"/>
                <a:cs typeface="Arial Bold"/>
                <a:sym typeface="Arial Bold"/>
              </a:rPr>
              <a:t>TECHNOOVA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626222" y="9737065"/>
            <a:ext cx="639909" cy="547688"/>
            <a:chOff x="0" y="0"/>
            <a:chExt cx="85321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3206" cy="730250"/>
            </a:xfrm>
            <a:custGeom>
              <a:avLst/>
              <a:gdLst/>
              <a:ahLst/>
              <a:cxnLst/>
              <a:rect l="l" t="t" r="r" b="b"/>
              <a:pathLst>
                <a:path w="853206" h="730250">
                  <a:moveTo>
                    <a:pt x="0" y="0"/>
                  </a:moveTo>
                  <a:lnTo>
                    <a:pt x="853206" y="0"/>
                  </a:lnTo>
                  <a:lnTo>
                    <a:pt x="853206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13" r="-5981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85321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850294" y="2535356"/>
          <a:ext cx="7048500" cy="6698877"/>
        </p:xfrm>
        <a:graphic>
          <a:graphicData uri="http://schemas.openxmlformats.org/drawingml/2006/table">
            <a:tbl>
              <a:tblPr/>
              <a:tblGrid>
                <a:gridCol w="3198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0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2734">
                <a:tc>
                  <a:txBody>
                    <a:bodyPr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i="1">
                          <a:solidFill>
                            <a:srgbClr val="000000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Challenge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i="1">
                          <a:solidFill>
                            <a:srgbClr val="000000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Strategy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734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Syntax variations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Vendor-specific parsers + normalization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397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Unknown commands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AI + confidence score + admin verification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734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AI errors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Rule engine for final validation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734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Large files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Chunked / structured parsing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734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Standard changes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Version-controlled rule sets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2734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Sensitive data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Encryption + RBAC + secure storage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10646769" y="1674038"/>
            <a:ext cx="6470285" cy="58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Strategies to Overcome</a:t>
            </a:r>
          </a:p>
        </p:txBody>
      </p:sp>
      <p:sp>
        <p:nvSpPr>
          <p:cNvPr id="16" name="AutoShape 16"/>
          <p:cNvSpPr/>
          <p:nvPr/>
        </p:nvSpPr>
        <p:spPr>
          <a:xfrm rot="5383020">
            <a:off x="6556343" y="5685692"/>
            <a:ext cx="7712040" cy="0"/>
          </a:xfrm>
          <a:prstGeom prst="line">
            <a:avLst/>
          </a:prstGeom>
          <a:ln w="19050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13319" y="9659245"/>
            <a:ext cx="18061362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8EB4E3"/>
                </a:solidFill>
                <a:latin typeface="Arial"/>
                <a:ea typeface="Arial"/>
                <a:cs typeface="Arial"/>
                <a:sym typeface="Arial"/>
              </a:rPr>
              <a:t>MVP → Multi-Vendor → More Frameworks → Live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40649" y="1731140"/>
            <a:ext cx="13895070" cy="797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 on Users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Security Teams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One view of all vendors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Network Admins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Easier issue identification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Auditors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Clear audit evidence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Organizations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Consistent security checks</a:t>
            </a: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Future Impact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more network vendors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more compliance frameworks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 continuous monitoring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 with live network devices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organization-wide security dashboards</a:t>
            </a: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lvl="1" indent="-271462" algn="just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65931" y="153143"/>
            <a:ext cx="2285829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8EB4E3"/>
                </a:solidFill>
                <a:latin typeface="Arial Bold"/>
                <a:ea typeface="Arial Bold"/>
                <a:cs typeface="Arial Bold"/>
                <a:sym typeface="Arial Bold"/>
              </a:rPr>
              <a:t>TECHNOOVA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626222" y="9737065"/>
            <a:ext cx="639909" cy="547688"/>
            <a:chOff x="0" y="0"/>
            <a:chExt cx="85321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3206" cy="730250"/>
            </a:xfrm>
            <a:custGeom>
              <a:avLst/>
              <a:gdLst/>
              <a:ahLst/>
              <a:cxnLst/>
              <a:rect l="l" t="t" r="r" b="b"/>
              <a:pathLst>
                <a:path w="853206" h="730250">
                  <a:moveTo>
                    <a:pt x="0" y="0"/>
                  </a:moveTo>
                  <a:lnTo>
                    <a:pt x="853206" y="0"/>
                  </a:lnTo>
                  <a:lnTo>
                    <a:pt x="853206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13" r="-5981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85321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648415" y="1804626"/>
            <a:ext cx="8961120" cy="3815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Key Benefits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repetitive manual checking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Gives </a:t>
            </a: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prioritized security findings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Keeps </a:t>
            </a: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evidence with every finding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Reuses verified command mappings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Makes audits easier to track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different security frameworks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Simplifies comparison across vendors</a:t>
            </a:r>
          </a:p>
        </p:txBody>
      </p:sp>
      <p:sp>
        <p:nvSpPr>
          <p:cNvPr id="15" name="AutoShape 15"/>
          <p:cNvSpPr/>
          <p:nvPr/>
        </p:nvSpPr>
        <p:spPr>
          <a:xfrm rot="5383380">
            <a:off x="5313140" y="5557266"/>
            <a:ext cx="7868193" cy="0"/>
          </a:xfrm>
          <a:prstGeom prst="line">
            <a:avLst/>
          </a:prstGeom>
          <a:ln w="19050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91440" y="9659245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8EB4E3"/>
                </a:solidFill>
                <a:latin typeface="Arial"/>
                <a:ea typeface="Arial"/>
                <a:cs typeface="Arial"/>
                <a:sym typeface="Arial"/>
              </a:rPr>
              <a:t>Different Vendors → One Security View → Actionable Findings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63385" y="1660208"/>
            <a:ext cx="13895070" cy="6631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Research Sources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NIST Cybersecurity Framework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Security guidelines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CIS Controls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Security best practices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Cisco Documentation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Network configuration reference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Fortinet Documentation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Network configuration reference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Palo Alto Documentation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Network configuration reference </a:t>
            </a: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References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NIST Cybersecurity Framework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CIS Controls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Cisco Security Documentation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Fortinet Documentation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Palo Alto Networks Documentation</a:t>
            </a:r>
          </a:p>
          <a:p>
            <a:pPr marL="542925" lvl="1" indent="-271462" algn="just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65931" y="153143"/>
            <a:ext cx="2285829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8EB4E3"/>
                </a:solidFill>
                <a:latin typeface="Arial Bold"/>
                <a:ea typeface="Arial Bold"/>
                <a:cs typeface="Arial Bold"/>
                <a:sym typeface="Arial Bold"/>
              </a:rPr>
              <a:t>TECHNOOVA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626222" y="9737065"/>
            <a:ext cx="639909" cy="547688"/>
            <a:chOff x="0" y="0"/>
            <a:chExt cx="85321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3206" cy="730250"/>
            </a:xfrm>
            <a:custGeom>
              <a:avLst/>
              <a:gdLst/>
              <a:ahLst/>
              <a:cxnLst/>
              <a:rect l="l" t="t" r="r" b="b"/>
              <a:pathLst>
                <a:path w="853206" h="730250">
                  <a:moveTo>
                    <a:pt x="0" y="0"/>
                  </a:moveTo>
                  <a:lnTo>
                    <a:pt x="853206" y="0"/>
                  </a:lnTo>
                  <a:lnTo>
                    <a:pt x="853206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13" r="-5981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85321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816410" y="1879873"/>
            <a:ext cx="6284538" cy="2430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Research Areas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Security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Configuration Auditing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Compliance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AI-assisted Analysis</a:t>
            </a:r>
          </a:p>
        </p:txBody>
      </p:sp>
      <p:sp>
        <p:nvSpPr>
          <p:cNvPr id="15" name="AutoShape 15"/>
          <p:cNvSpPr/>
          <p:nvPr/>
        </p:nvSpPr>
        <p:spPr>
          <a:xfrm rot="5383020">
            <a:off x="7236981" y="5687911"/>
            <a:ext cx="7707611" cy="0"/>
          </a:xfrm>
          <a:prstGeom prst="line">
            <a:avLst/>
          </a:prstGeom>
          <a:ln w="19050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69561" y="4205592"/>
            <a:ext cx="18105120" cy="119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37609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YOU!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7626222" y="9737065"/>
            <a:ext cx="639909" cy="547688"/>
            <a:chOff x="0" y="0"/>
            <a:chExt cx="853211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3206" cy="730250"/>
            </a:xfrm>
            <a:custGeom>
              <a:avLst/>
              <a:gdLst/>
              <a:ahLst/>
              <a:cxnLst/>
              <a:rect l="l" t="t" r="r" b="b"/>
              <a:pathLst>
                <a:path w="853206" h="730250">
                  <a:moveTo>
                    <a:pt x="0" y="0"/>
                  </a:moveTo>
                  <a:lnTo>
                    <a:pt x="853206" y="0"/>
                  </a:lnTo>
                  <a:lnTo>
                    <a:pt x="853206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9813" r="-59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85321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</Words>
  <Application>Microsoft Office PowerPoint</Application>
  <PresentationFormat>Custom</PresentationFormat>
  <Paragraphs>207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Calibri (MS) Italics</vt:lpstr>
      <vt:lpstr>Arimo Bold</vt:lpstr>
      <vt:lpstr>Calibri</vt:lpstr>
      <vt:lpstr>Barlow SemiCondensed Bold</vt:lpstr>
      <vt:lpstr>Arial Bold</vt:lpstr>
      <vt:lpstr>Times New Roman Bold</vt:lpstr>
      <vt:lpstr>Arial Italics</vt:lpstr>
      <vt:lpstr>Garamond Bold</vt:lpstr>
      <vt:lpstr>Barlow SemiCondensed Semi-Bold</vt:lpstr>
      <vt:lpstr>Arial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 backup_idea.pptx</dc:title>
  <dc:creator>Dhananjay Deore</dc:creator>
  <cp:lastModifiedBy>Dhananjay Deore</cp:lastModifiedBy>
  <cp:revision>1</cp:revision>
  <dcterms:created xsi:type="dcterms:W3CDTF">2006-08-16T00:00:00Z</dcterms:created>
  <dcterms:modified xsi:type="dcterms:W3CDTF">2026-09-28T19:00:30Z</dcterms:modified>
  <dc:identifier>DAHWgo0574g</dc:identifier>
</cp:coreProperties>
</file>